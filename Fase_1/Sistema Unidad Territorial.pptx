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76" r:id="rId6"/>
    <p:sldId id="277" r:id="rId7"/>
    <p:sldId id="278" r:id="rId8"/>
    <p:sldId id="279" r:id="rId9"/>
    <p:sldId id="296" r:id="rId10"/>
    <p:sldId id="297" r:id="rId11"/>
    <p:sldId id="298" r:id="rId12"/>
    <p:sldId id="299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3CC"/>
    <a:srgbClr val="FABE79"/>
    <a:srgbClr val="F8F6F5"/>
    <a:srgbClr val="446992"/>
    <a:srgbClr val="AEC2D8"/>
    <a:srgbClr val="98432A"/>
    <a:srgbClr val="D84400"/>
    <a:srgbClr val="44678D"/>
    <a:srgbClr val="263E5A"/>
    <a:srgbClr val="D6E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113" d="100"/>
          <a:sy n="113" d="100"/>
        </p:scale>
        <p:origin x="510" y="10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1B39F24-D372-49FA-92C4-AB388BC5B723}" type="datetime1">
              <a:rPr lang="es-ES" smtClean="0"/>
              <a:t>19/01/2026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8DC1D1-B6C2-C644-8BF1-C34DBFFE1C7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9" name="Marcador de imagen de diapositiva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endParaRPr lang="es-E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56CD306-C8D1-4677-B356-29ECCA1AC9DC}" type="datetime1">
              <a:rPr lang="es-ES" smtClean="0"/>
              <a:pPr/>
              <a:t>19/01/2026</a:t>
            </a:fld>
            <a:endParaRPr lang="es-ES" dirty="0"/>
          </a:p>
        </p:txBody>
      </p:sp>
      <p:sp>
        <p:nvSpPr>
          <p:cNvPr id="12" name="Marcador de notas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fld id="{FDBF3159-94EB-4F6B-8273-09F1A6B019E6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Calibri" panose="020F050202020403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1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2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3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noProof="0" smtClean="0"/>
              <a:t>4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64007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5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6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859400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7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663236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8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083463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017105BD-6D6F-49DB-9DE4-D4A6452D7E5F}" type="slidenum">
              <a:rPr lang="es-ES" altLang="zh-CN" smtClean="0"/>
              <a:t>9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75711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cxnSp>
        <p:nvCxnSpPr>
          <p:cNvPr id="24" name="Conector recto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800" b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 noProof="0"/>
              <a:t>Haga clic para modificar el estilo de título del patrón </a:t>
            </a:r>
          </a:p>
        </p:txBody>
      </p:sp>
      <p:sp>
        <p:nvSpPr>
          <p:cNvPr id="47" name="Marcador de posición del contenido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imagen≈≈</a:t>
            </a:r>
          </a:p>
        </p:txBody>
      </p:sp>
      <p:sp>
        <p:nvSpPr>
          <p:cNvPr id="9" name="Forma libre: Forma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Forma libre: Forma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800" dirty="0"/>
          </a:p>
        </p:txBody>
      </p:sp>
      <p:sp>
        <p:nvSpPr>
          <p:cNvPr id="2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editar el estilo de título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9" name="Forma libre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Forma libre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0" name="Forma libre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4" name="Marcador de posición del contenido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ítulo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1" name="Texto 47" descr="Haga clic en el icono para agregar una imagen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13000"/>
              </a:lnSpc>
              <a:buNone/>
              <a:defRPr lang="es-ES" sz="1800" b="1" cap="all" baseline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 rtlCol="0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11" name="Marcador de posición del contenido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ítulo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0" name="Marcador de posición de tabla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editar el estilo del texto patrón</a:t>
            </a:r>
            <a:endParaRPr lang="es-ES" altLang="en-US"/>
          </a:p>
        </p:txBody>
      </p:sp>
      <p:sp>
        <p:nvSpPr>
          <p:cNvPr id="9" name="Forma libre: Forma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3" name="Forma libre: Forma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rtlCol="0" anchor="b">
            <a:noAutofit/>
          </a:bodyPr>
          <a:lstStyle>
            <a:lvl1pPr>
              <a:defRPr lang="es-ES" sz="2700">
                <a:latin typeface="+mn-lt"/>
              </a:defRPr>
            </a:lvl1pPr>
          </a:lstStyle>
          <a:p>
            <a:pPr rtl="0"/>
            <a:r>
              <a:rPr lang="es-ES"/>
              <a:t>Haga clic para editar el texto</a:t>
            </a:r>
          </a:p>
        </p:txBody>
      </p:sp>
      <p:sp>
        <p:nvSpPr>
          <p:cNvPr id="11" name="subtítulo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4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4" name="Forma libre: Forma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6" name="Forma libre: Forma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8" name="Forma libre: Forma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ítulo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52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3" name="Marcador de posición del contenido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Marcador de posición del contenido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1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 anchor="ctr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iembros del 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s-ES"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56" name="Marcador de posición del contenido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8" name="Marcador de posición del contenido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1" name="Marcador de posición del contenido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 dirty="0"/>
          </a:p>
        </p:txBody>
      </p:sp>
      <p:sp>
        <p:nvSpPr>
          <p:cNvPr id="4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6" name="Marcador de posición del contenido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9" name="Marcador de posición del contenido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0" name="Marcador de posición del contenido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2" name="Marcador de posición del contenido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2" name="Marcador de posición del contenido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5" name="Marcador de posición del contenido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58" name="Marcador de posición del contenido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63" name="Marcador de posición del contenido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5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60" name="Marcador de posición del contenido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 rtlCol="0">
            <a:noAutofit/>
          </a:bodyPr>
          <a:lstStyle>
            <a:lvl1pPr>
              <a:defRPr lang="es-ES" b="0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as con 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: Forma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5" name="Forma libre: Forma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Forma libre: Forma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7" name="Forma libre: Forma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3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4" name="Marcador de posición del contenido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6" name="Marcador de posición del contenido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38" name="Marcador de posición del contenido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3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40" name="Marcador de posición del contenido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41" name="Marcador de posición del contenido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2" name="Marcador de posición del contenido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3" name="Marcador de posición del contenido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4" name="Marcador de posición del contenido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45" name="Marcador de posición del contenido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25" name="Marcador de título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posición del contenido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0" name="Marcador de posición del contenido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1" name="Marcador de posición del contenido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3" name="Marcador de posición del contenido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l contenido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Marcador de posición del contenido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4" name="Marcador de título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5" name="Marcador de posición del contenido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6" name="Marcador de posición del contenido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8" name="Marcador de posición del contenido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29" name="Marcador de posición del contenido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lang="es-ES"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editar el estilo de título del patrón</a:t>
            </a:r>
            <a:endParaRPr lang="es-ES" alt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Título de la presentación</a:t>
            </a:r>
            <a:endParaRPr lang="es-ES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noProof="0" smtClean="0"/>
              <a:pPr rtl="0"/>
              <a:t>‹Nº›</a:t>
            </a:fld>
            <a:endParaRPr lang="es-E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rma libre: Forma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orma libre: Forma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orma libre: Forma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orma libre: Forma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orma libre: Forma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orma libre: Forma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orma libre: Forma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orma libre: Forma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orma libre: Forma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orma libre: Forma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orma libre: Forma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orma libre: Forma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orma libre: Forma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orma libre: Forma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orma libre: Forma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orma libre: Forma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orma libre: Forma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orma libre: Forma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orma libre: Forma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6" name="Marcador de posición del contenido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7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88" name="Marcador de posición del contenido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89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0" name="Marcador de posición del contenido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1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2" name="Marcador de posición del contenido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93" name="Marcador de posición del contenido 47" descr="Haga clic en el icono para agregar una imagen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94" name="Marcador de posición del contenido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s-E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/>
              <a:t>Haga clic para modificar los estilos de texto del patrón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rtlCol="0" anchor="t">
            <a:noAutofit/>
          </a:bodyPr>
          <a:lstStyle>
            <a:lvl1pPr algn="l"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8" name="Forma libre: Forma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1" name="Subtítulo 47" descr="Haga clic en el icono para agregar una imagen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posición del contenido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37" name="Marcador de posición de imagen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rtlCol="0" anchor="ctr">
            <a:noAutofit/>
          </a:bodyPr>
          <a:lstStyle>
            <a:lvl1pPr marL="0" indent="0" algn="ctr">
              <a:buNone/>
              <a:defRPr lang="es-ES" sz="10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rtlCol="0" anchor="b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Subtítulo 47" descr="Haga clic en el icono para agregar una imagen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posición del contenido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rma libre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2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3" name="Marcador de contenido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4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6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0" name="Marcador de contenido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4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27" name="Forma libre: Forma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19" name="Marcador de posición de imagen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s-ES"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rtlCol="0" anchor="ctr">
            <a:noAutofit/>
          </a:bodyPr>
          <a:lstStyle>
            <a:lvl1pPr marL="0" indent="0" algn="ctr">
              <a:buNone/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en-US"/>
          </a:p>
        </p:txBody>
      </p:sp>
      <p:sp>
        <p:nvSpPr>
          <p:cNvPr id="18" name="Marcador de contenido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lang="es-ES" sz="1500" b="0">
                <a:solidFill>
                  <a:schemeClr val="accent6"/>
                </a:solidFill>
                <a:latin typeface="+mn-lt"/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los estilos de texto del patrón </a:t>
            </a:r>
          </a:p>
        </p:txBody>
      </p:sp>
      <p:sp>
        <p:nvSpPr>
          <p:cNvPr id="19" name="Forma libre: Forma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0" name="Forma libre: Forma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rtlCol="0" anchor="t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rma libre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9" name="Hexágono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0" name="Hexágono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1" name="Hexágono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2" name="Hexágono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4" name="Forma libre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4" name="Hexágono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5" name="Hexágono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3" name="Forma libre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18" name="Hexágono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46" name="Forma libre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28" name="Marcador de contenido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9" name="Marcador de contenido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30" name="Marcador de contenido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31" name="Marcador de contenido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 rtlCol="0">
            <a:noAutofit/>
          </a:bodyPr>
          <a:lstStyle>
            <a:lvl1pPr marL="0" indent="0" algn="l">
              <a:buFontTx/>
              <a:buNone/>
              <a:defRPr lang="es-ES" sz="105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altLang="zh-CN" dirty="0"/>
          </a:p>
        </p:txBody>
      </p:sp>
      <p:sp>
        <p:nvSpPr>
          <p:cNvPr id="21" name="Marcador de contenido 47" descr="Haga clic en el icono para agregar una imagen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rtlCol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lang="es-ES" sz="1800" b="0">
                <a:solidFill>
                  <a:schemeClr val="accent6"/>
                </a:solidFill>
              </a:defRPr>
            </a:lvl1pPr>
            <a:lvl2pPr>
              <a:defRPr lang="es-ES" sz="1000"/>
            </a:lvl2pPr>
            <a:lvl3pPr>
              <a:defRPr lang="es-ES" sz="900"/>
            </a:lvl3pPr>
            <a:lvl4pPr>
              <a:defRPr lang="es-ES" sz="800"/>
            </a:lvl4pPr>
            <a:lvl5pPr>
              <a:defRPr lang="es-ES" sz="800"/>
            </a:lvl5pPr>
          </a:lstStyle>
          <a:p>
            <a:pPr lvl="0" rtl="0"/>
            <a:r>
              <a:rPr lang="es-ES"/>
              <a:t>Haga clic para modificar el estilo de título del patrón 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rtlCol="0" anchor="b">
            <a:noAutofit/>
          </a:bodyPr>
          <a:lstStyle>
            <a:lvl1pPr>
              <a:defRPr lang="es-ES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0" name="Forma libre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l contenido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fld id="{47FEACEE-25B4-4A2D-B147-27296E36371D}" type="slidenum">
              <a:rPr lang="es-ES" altLang="zh-CN" smtClean="0"/>
              <a:pPr rtl="0"/>
              <a:t>‹Nº›</a:t>
            </a:fld>
            <a:endParaRPr lang="es-ES" altLang="zh-CN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ítulo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6"/>
                </a:solidFill>
                <a:latin typeface="+mn-lt"/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accent6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82" y="2199496"/>
            <a:ext cx="4405503" cy="205744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Sistema Unidad Territorial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3082" y="5662217"/>
            <a:ext cx="2361034" cy="76028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Roberto Zapata Silva</a:t>
            </a:r>
          </a:p>
        </p:txBody>
      </p:sp>
      <p:pic>
        <p:nvPicPr>
          <p:cNvPr id="30" name="Marcador de posición de imagen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962" r="23962"/>
          <a:stretch/>
        </p:blipFill>
        <p:spPr>
          <a:xfrm>
            <a:off x="6409267" y="567837"/>
            <a:ext cx="4975918" cy="5722325"/>
          </a:xfrm>
        </p:spPr>
      </p:pic>
      <p:sp>
        <p:nvSpPr>
          <p:cNvPr id="10" name="Forma libre: Forma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orma libre: Forma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ABBD65-6204-4149-8E1F-BE54CD281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82" y="333895"/>
            <a:ext cx="4640934" cy="116023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DBE5DFF-FFC0-4B9E-897C-2CD8AEC628DC}"/>
              </a:ext>
            </a:extLst>
          </p:cNvPr>
          <p:cNvSpPr/>
          <p:nvPr/>
        </p:nvSpPr>
        <p:spPr>
          <a:xfrm>
            <a:off x="1286933" y="4112512"/>
            <a:ext cx="668867" cy="874355"/>
          </a:xfrm>
          <a:prstGeom prst="rect">
            <a:avLst/>
          </a:prstGeom>
          <a:solidFill>
            <a:srgbClr val="F8F6F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Introducción</a:t>
            </a:r>
            <a:endParaRPr lang="es-ES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6"/>
            <a:ext cx="4260180" cy="18431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de Unidad Territorial (SUT). Una propuesta tecnológica diseñada no solo para digitalizar, sino para profesionalizar y democratizar la gestión de las Juntas de Vecinos en Chile</a:t>
            </a:r>
          </a:p>
          <a:p>
            <a:pPr rtl="0"/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/>
          <a:stretch/>
        </p:blipFill>
        <p:spPr>
          <a:xfrm>
            <a:off x="5451179" y="618585"/>
            <a:ext cx="6446999" cy="5964460"/>
          </a:xfrm>
        </p:spPr>
      </p:pic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s-ES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s-ES"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2</a:t>
            </a:fld>
            <a:endParaRPr lang="es-ES" altLang="zh-CN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ítulo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Contexto y Problemática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3C52C6E-B8EC-499D-A832-A09AF5120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267" y="1685310"/>
            <a:ext cx="1645428" cy="323637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DDC8684-1033-47CD-A800-D3075C102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932" y="1784520"/>
            <a:ext cx="4649068" cy="3099379"/>
          </a:xfrm>
          <a:prstGeom prst="rect">
            <a:avLst/>
          </a:prstGeom>
        </p:spPr>
      </p:pic>
      <p:sp>
        <p:nvSpPr>
          <p:cNvPr id="23" name="Título 45">
            <a:extLst>
              <a:ext uri="{FF2B5EF4-FFF2-40B4-BE49-F238E27FC236}">
                <a16:creationId xmlns:a16="http://schemas.microsoft.com/office/drawing/2014/main" id="{F6B40BF4-A56E-4E31-9C38-921405BADBE0}"/>
              </a:ext>
            </a:extLst>
          </p:cNvPr>
          <p:cNvSpPr txBox="1">
            <a:spLocks/>
          </p:cNvSpPr>
          <p:nvPr/>
        </p:nvSpPr>
        <p:spPr>
          <a:xfrm>
            <a:off x="-281591" y="5523565"/>
            <a:ext cx="12755182" cy="10413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b="1" kern="1200">
                <a:solidFill>
                  <a:schemeClr val="accent6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s-CL" sz="3000" b="0" dirty="0">
                <a:latin typeface="Segoe UI" panose="020B0502040204020203" pitchFamily="34" charset="0"/>
                <a:cs typeface="Segoe UI" panose="020B0502040204020203" pitchFamily="34" charset="0"/>
              </a:rPr>
              <a:t>Descentralización, inseguridad e informalidad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1D38D7B-EFD0-4EF3-A2F2-8E7694033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5" y="1685308"/>
            <a:ext cx="1650553" cy="323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C6EC6F6-F346-241D-C2AD-CEA21AF2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Propuesta de Solución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D23934-4A07-2183-483D-999C4EEC4F7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E20B9D-3E1B-ACAC-E328-901AE7E6D9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4</a:t>
            </a:fld>
            <a:endParaRPr lang="es-ES" altLang="zh-CN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02C620-55C6-4CD4-A3FA-45F39B0E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96" y="1622510"/>
            <a:ext cx="7513608" cy="410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8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Objetivos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5</a:t>
            </a:fld>
            <a:endParaRPr lang="es-ES" altLang="zh-CN" dirty="0"/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725546CF-7E8C-4E5E-9115-9CE64D3DAEA4}"/>
              </a:ext>
            </a:extLst>
          </p:cNvPr>
          <p:cNvSpPr txBox="1">
            <a:spLocks/>
          </p:cNvSpPr>
          <p:nvPr/>
        </p:nvSpPr>
        <p:spPr>
          <a:xfrm>
            <a:off x="651102" y="3806245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b="1" kern="1200">
                <a:solidFill>
                  <a:schemeClr val="accent6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s-CL" sz="3200" dirty="0">
                <a:latin typeface="Segoe UI" panose="020B0502040204020203" pitchFamily="34" charset="0"/>
                <a:cs typeface="Segoe UI" panose="020B0502040204020203" pitchFamily="34" charset="0"/>
              </a:rPr>
              <a:t>Objetivos Específicos: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0" dirty="0">
                <a:latin typeface="Segoe UI" panose="020B0502040204020203" pitchFamily="34" charset="0"/>
                <a:cs typeface="Segoe UI" panose="020B0502040204020203" pitchFamily="34" charset="0"/>
              </a:rPr>
              <a:t>Diseñar Arquitectura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0" dirty="0">
                <a:latin typeface="Segoe UI" panose="020B0502040204020203" pitchFamily="34" charset="0"/>
                <a:cs typeface="Segoe UI" panose="020B0502040204020203" pitchFamily="34" charset="0"/>
              </a:rPr>
              <a:t>Construir App Móvil y Web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0" dirty="0">
                <a:latin typeface="Segoe UI" panose="020B0502040204020203" pitchFamily="34" charset="0"/>
                <a:cs typeface="Segoe UI" panose="020B0502040204020203" pitchFamily="34" charset="0"/>
              </a:rPr>
              <a:t>Gestión Documental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0" dirty="0">
                <a:latin typeface="Segoe UI" panose="020B0502040204020203" pitchFamily="34" charset="0"/>
                <a:cs typeface="Segoe UI" panose="020B0502040204020203" pitchFamily="34" charset="0"/>
              </a:rPr>
              <a:t>Validación Integral</a:t>
            </a:r>
            <a:endParaRPr lang="es-CL" sz="2800" b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ítulo 2">
            <a:extLst>
              <a:ext uri="{FF2B5EF4-FFF2-40B4-BE49-F238E27FC236}">
                <a16:creationId xmlns:a16="http://schemas.microsoft.com/office/drawing/2014/main" id="{37F4BBFC-077E-4DBD-A199-BE4230D55925}"/>
              </a:ext>
            </a:extLst>
          </p:cNvPr>
          <p:cNvSpPr txBox="1">
            <a:spLocks/>
          </p:cNvSpPr>
          <p:nvPr/>
        </p:nvSpPr>
        <p:spPr>
          <a:xfrm>
            <a:off x="651102" y="1909142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b="1" kern="1200">
                <a:solidFill>
                  <a:schemeClr val="accent6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s-CL" sz="3200" dirty="0">
                <a:latin typeface="Segoe UI" panose="020B0502040204020203" pitchFamily="34" charset="0"/>
                <a:cs typeface="Segoe UI" panose="020B0502040204020203" pitchFamily="34" charset="0"/>
              </a:rPr>
              <a:t>Objetivo General: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" sz="2800" b="0" dirty="0">
                <a:latin typeface="Segoe UI" panose="020B0502040204020203" pitchFamily="34" charset="0"/>
                <a:cs typeface="Segoe UI" panose="020B0502040204020203" pitchFamily="34" charset="0"/>
              </a:rPr>
              <a:t>Desarrollar el "Sistema de Unidad Territorial", una plataforma móvil que modernice la gestión administrativa y trámites de la Junta de Vecinos, mejorando la eficiencia y participación.</a:t>
            </a:r>
            <a:endParaRPr lang="es-CL" sz="2800" b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Metodología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6</a:t>
            </a:fld>
            <a:endParaRPr lang="es-ES" altLang="zh-CN" dirty="0"/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47FF7CCB-5594-4622-964C-6597CC832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778995"/>
              </p:ext>
            </p:extLst>
          </p:nvPr>
        </p:nvGraphicFramePr>
        <p:xfrm>
          <a:off x="2032000" y="1871132"/>
          <a:ext cx="8128000" cy="2777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796016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519603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85940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59250792"/>
                    </a:ext>
                  </a:extLst>
                </a:gridCol>
              </a:tblGrid>
              <a:tr h="745316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Fase 1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AB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Fase 2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AB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Fase 3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AB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Fase 4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FAB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10082"/>
                  </a:ext>
                </a:extLst>
              </a:tr>
              <a:tr h="745316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Semanas 1 - 4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Semanas 4 - 8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Semanas 9 - 12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Semanas 13 - 15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82391"/>
                  </a:ext>
                </a:extLst>
              </a:tr>
              <a:tr h="1286435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Infraestructura y Datos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Backend</a:t>
                      </a:r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y App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Consolidación de Lógica de negocio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Calidad, Pruebas y Estabilización</a:t>
                      </a:r>
                      <a:endParaRPr lang="es-CL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DCD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2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157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Arquitectura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7</a:t>
            </a:fld>
            <a:endParaRPr lang="es-ES" altLang="zh-CN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BF21D9-D6FE-4F81-9CF5-0B66F4AC8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37" y="1838325"/>
            <a:ext cx="55721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50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>
                <a:latin typeface="Segoe UI" panose="020B0502040204020203" pitchFamily="34" charset="0"/>
                <a:cs typeface="Segoe UI" panose="020B0502040204020203" pitchFamily="34" charset="0"/>
              </a:rPr>
              <a:t>Stack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 Tecnológico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8</a:t>
            </a:fld>
            <a:endParaRPr lang="es-ES" altLang="zh-CN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1C9C7D-AA8E-484E-852D-CC020C061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672" y="1787968"/>
            <a:ext cx="1919329" cy="1007648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4232479-ED8E-47AF-8303-6E6AAC231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9924" y="1584275"/>
            <a:ext cx="1418998" cy="1418998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7C1E198-55EF-4433-A256-E0155650BA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9845" y="1929292"/>
            <a:ext cx="2128889" cy="58982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700087E-3B85-465B-A224-4BEDCC0C04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671" y="3825552"/>
            <a:ext cx="1919330" cy="303644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28253CE4-916C-41D9-BB32-AACDC9C0FB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19924" y="3821887"/>
            <a:ext cx="1372048" cy="37849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933FC80-FF4A-40D9-A252-9A6D747A92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2895" y="3819845"/>
            <a:ext cx="2139923" cy="4608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1C771159-F3A6-4B76-89FD-F43A2F28B0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39170" y="2009895"/>
            <a:ext cx="2238263" cy="509219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2DBB796-677A-43C2-B668-91637930B25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3303" y="3591690"/>
            <a:ext cx="2621532" cy="838890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51B6DA28-662B-4D09-92DF-16276636C9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03923" y="5018997"/>
            <a:ext cx="1219200" cy="1219200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77F96074-8D81-4FD4-8D7D-A060759BFA2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49722" y="4430580"/>
            <a:ext cx="2278154" cy="22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59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Conclusión y Cierre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18E7F7-120D-E343-B41C-E8DF89FC0F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Unidad Territorial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7FEACEE-25B4-4A2D-B147-27296E36371D}" type="slidenum">
              <a:rPr lang="es-ES" altLang="zh-CN" smtClean="0"/>
              <a:pPr rtl="0"/>
              <a:t>9</a:t>
            </a:fld>
            <a:endParaRPr lang="es-ES" altLang="zh-CN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8F24FB-3CCA-4F4A-B10A-F6BD82D9C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116" y="1627598"/>
            <a:ext cx="6599767" cy="36028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3995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ersonalizar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71627983_TF00951641_Win32" id="{463890D5-E9AC-4A9F-9395-AD7AEB362824}" vid="{ACBEAE8C-66C0-4563-A396-AC17662042D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 clara</Template>
  <TotalTime>199</TotalTime>
  <Words>180</Words>
  <Application>Microsoft Office PowerPoint</Application>
  <PresentationFormat>Panorámica</PresentationFormat>
  <Paragraphs>54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Abadi</vt:lpstr>
      <vt:lpstr>Arial</vt:lpstr>
      <vt:lpstr>Arial Black</vt:lpstr>
      <vt:lpstr>Calibri</vt:lpstr>
      <vt:lpstr>Posterama Text SemiBold</vt:lpstr>
      <vt:lpstr>Segoe UI</vt:lpstr>
      <vt:lpstr>Personalizar​</vt:lpstr>
      <vt:lpstr>Sistema Unidad Territorial</vt:lpstr>
      <vt:lpstr>Introducción</vt:lpstr>
      <vt:lpstr>Contexto y Problemática </vt:lpstr>
      <vt:lpstr>Propuesta de Solución</vt:lpstr>
      <vt:lpstr>Objetivos</vt:lpstr>
      <vt:lpstr>Metodología</vt:lpstr>
      <vt:lpstr>Arquitectura</vt:lpstr>
      <vt:lpstr>Stack Tecnológico</vt:lpstr>
      <vt:lpstr>Conclusión y 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Unidad Territorial</dc:title>
  <dc:creator>Roberto Zapata</dc:creator>
  <cp:lastModifiedBy>Roberto Zapata</cp:lastModifiedBy>
  <cp:revision>10</cp:revision>
  <dcterms:created xsi:type="dcterms:W3CDTF">2026-01-19T16:38:47Z</dcterms:created>
  <dcterms:modified xsi:type="dcterms:W3CDTF">2026-01-19T19:58:42Z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