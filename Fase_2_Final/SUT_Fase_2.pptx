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78" r:id="rId6"/>
    <p:sldId id="297" r:id="rId7"/>
    <p:sldId id="300" r:id="rId8"/>
    <p:sldId id="303" r:id="rId9"/>
    <p:sldId id="302" r:id="rId10"/>
    <p:sldId id="298" r:id="rId11"/>
    <p:sldId id="301" r:id="rId12"/>
    <p:sldId id="299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3CC"/>
    <a:srgbClr val="FABE79"/>
    <a:srgbClr val="F8F6F5"/>
    <a:srgbClr val="446992"/>
    <a:srgbClr val="AEC2D8"/>
    <a:srgbClr val="98432A"/>
    <a:srgbClr val="D84400"/>
    <a:srgbClr val="44678D"/>
    <a:srgbClr val="263E5A"/>
    <a:srgbClr val="D6E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113" d="100"/>
          <a:sy n="113" d="100"/>
        </p:scale>
        <p:origin x="510" y="10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5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1B39F24-D372-49FA-92C4-AB388BC5B723}" type="datetime1">
              <a:rPr lang="es-ES" smtClean="0"/>
              <a:t>29/01/2026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8DC1D1-B6C2-C644-8BF1-C34DBFFE1C7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es-ES"/>
          </a:p>
        </p:txBody>
      </p:sp>
      <p:sp>
        <p:nvSpPr>
          <p:cNvPr id="9" name="Marcador de imagen de diapositiva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es-ES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56CD306-C8D1-4677-B356-29ECCA1AC9DC}" type="datetime1">
              <a:rPr lang="es-ES" smtClean="0"/>
              <a:pPr/>
              <a:t>29/01/2026</a:t>
            </a:fld>
            <a:endParaRPr lang="es-ES" dirty="0"/>
          </a:p>
        </p:txBody>
      </p:sp>
      <p:sp>
        <p:nvSpPr>
          <p:cNvPr id="12" name="Marcador de notas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FDBF3159-94EB-4F6B-8273-09F1A6B019E6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2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3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663236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4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952762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5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407443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6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1102495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7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08346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8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575850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9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75711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cxnSp>
        <p:nvCxnSpPr>
          <p:cNvPr id="24" name="Conector recto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800" b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47" name="Marcador de posición del contenido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imagen≈≈</a:t>
            </a:r>
          </a:p>
        </p:txBody>
      </p:sp>
      <p:sp>
        <p:nvSpPr>
          <p:cNvPr id="9" name="Forma libre: Forma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Forma libre: Forma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24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editar el estilo de título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4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6" name="Forma libre: Forma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9" name="Forma libre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8" name="Forma libre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0" name="Forma libre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4" name="Marcador de posición del contenido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ítulo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1" name="Texto 47" descr="Haga clic en el icono para agregar una imagen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1" cap="all" baseline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11" name="Marcador de posición del contenido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editar el estilo del texto patrón</a:t>
            </a:r>
            <a:endParaRPr lang="es-ES" alt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ítulo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posición de tabla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editar el estilo del texto patrón</a:t>
            </a:r>
            <a:endParaRPr lang="es-ES" altLang="en-US"/>
          </a:p>
        </p:txBody>
      </p:sp>
      <p:sp>
        <p:nvSpPr>
          <p:cNvPr id="9" name="Forma libre: Forma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3" name="Forma libre: Forma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es-ES" sz="2700">
                <a:latin typeface="+mn-lt"/>
              </a:defRPr>
            </a:lvl1pPr>
          </a:lstStyle>
          <a:p>
            <a:pPr rtl="0"/>
            <a:r>
              <a:rPr lang="es-ES"/>
              <a:t>Haga clic para editar el texto</a:t>
            </a:r>
          </a:p>
        </p:txBody>
      </p:sp>
      <p:sp>
        <p:nvSpPr>
          <p:cNvPr id="11" name="subtítulo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4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4" name="Forma libre: Forma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600" dirty="0"/>
          </a:p>
        </p:txBody>
      </p: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8" name="Forma libre: Forma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miembros del 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ítulo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0" name="Marcador de posición del contenido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52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3" name="Marcador de posición del contenido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1" name="Marcador de posición del contenido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2" name="Marcador de posición del contenido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2" name="Marcador de posición del contenido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1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posición del contenido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3" name="Marcador de posición del contenido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iembros del 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s-ES"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56" name="Marcador de posición del contenido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8" name="Marcador de posición del contenido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1" name="Marcador de posición del contenido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 dirty="0"/>
          </a:p>
        </p:txBody>
      </p:sp>
      <p:sp>
        <p:nvSpPr>
          <p:cNvPr id="4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6" name="Marcador de posición del contenido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9" name="Marcador de posición del contenido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0" name="Marcador de posición del contenido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2" name="Marcador de posición del contenido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2" name="Marcador de posición del contenido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55" name="Marcador de posición del contenido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8" name="Marcador de posición del contenido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3" name="Marcador de posición del contenido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60" name="Marcador de posición del contenido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es-ES" b="0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as con 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5" name="Forma libre: Forma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6" name="Forma libre: Forma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7" name="Forma libre: Forma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3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4" name="Marcador de posición del contenido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6" name="Marcador de posición del contenido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1" name="Marcador de posición del contenido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3" name="Marcador de posición del contenido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5" name="Marcador de posición del contenido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25" name="Marcador de título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0" name="Marcador de posición del contenido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1" name="Marcador de posición del contenido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Marcador de posición del contenido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4" name="Marcador de título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5" name="Marcador de posición del contenido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8" name="Marcador de posición del contenido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9" name="Marcador de posición del contenido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rma libre: Forma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orma libre: Forma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orma libre: Forma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orma libre: Forma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orma libre: Forma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orma libre: Forma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orma libre: Forma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orma libre: Forma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orma libre: Forma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orma libre: Forma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orma libre: Forma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orma libre: Forma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orma libre: Forma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orma libre: Forma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orma libre: Forma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orma libre: Forma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orma libre: Forma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orma libre: Forma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orma libre: Forma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86" name="Marcador de posición del contenido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8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88" name="Marcador de posición del contenido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8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0" name="Marcador de posición del contenido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9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2" name="Marcador de posición del contenido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9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4" name="Marcador de posición del contenido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8" name="Forma libre: Forma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1" name="Subtítulo 47" descr="Haga clic en el icono para agregar una imagen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3" name="Marcador de posición del contenido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 imagen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Subtítulo 47" descr="Haga clic en el icono para agregar una imagen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posición del contenido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bre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2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3" name="Marcador de contenido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4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contenido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8" name="Marcador de contenido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Forma libre: Forma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9" name="Marcador de posición de imagen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18" name="Marcador de contenido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19" name="Forma libre: Forma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0" name="Forma libre: Forma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rma libre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9" name="Hexágono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0" name="Hexágono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1" name="Hexágono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2" name="Hexágono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4" name="Forma libre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4" name="Hexágono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5" name="Hexágono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3" name="Forma libre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8" name="Hexágono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6" name="Forma libre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8" name="Marcador de contenido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9" name="Marcador de contenido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30" name="Marcador de contenido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31" name="Marcador de contenido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1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0" name="Forma libre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l contenido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ítulo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accent6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0demonoir/Capstone_2026/tree/main/SUT/SUT_backen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82" y="2199496"/>
            <a:ext cx="4405503" cy="205744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Sistema Unidad Territorial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3082" y="5662217"/>
            <a:ext cx="2361034" cy="76028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Roberto Zapata Silva</a:t>
            </a:r>
          </a:p>
        </p:txBody>
      </p:sp>
      <p:pic>
        <p:nvPicPr>
          <p:cNvPr id="30" name="Marcador de posición de imagen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962" r="23962"/>
          <a:stretch/>
        </p:blipFill>
        <p:spPr>
          <a:xfrm>
            <a:off x="6409267" y="567837"/>
            <a:ext cx="4975918" cy="5722325"/>
          </a:xfrm>
        </p:spPr>
      </p:pic>
      <p:sp>
        <p:nvSpPr>
          <p:cNvPr id="10" name="Forma libre: Forma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orma libre: Forma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ABBD65-6204-4149-8E1F-BE54CD281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82" y="333895"/>
            <a:ext cx="4640934" cy="116023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DBE5DFF-FFC0-4B9E-897C-2CD8AEC628DC}"/>
              </a:ext>
            </a:extLst>
          </p:cNvPr>
          <p:cNvSpPr/>
          <p:nvPr/>
        </p:nvSpPr>
        <p:spPr>
          <a:xfrm>
            <a:off x="1286933" y="4112512"/>
            <a:ext cx="668867" cy="874355"/>
          </a:xfrm>
          <a:prstGeom prst="rect">
            <a:avLst/>
          </a:prstGeom>
          <a:solidFill>
            <a:srgbClr val="F8F6F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Propuesta de Solución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2</a:t>
            </a:fld>
            <a:endParaRPr lang="es-ES" altLang="zh-CN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02C620-55C6-4CD4-A3FA-45F39B0E2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96" y="1622510"/>
            <a:ext cx="7513608" cy="410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Arquitectura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3</a:t>
            </a:fld>
            <a:endParaRPr lang="es-ES" altLang="zh-CN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BF21D9-D6FE-4F81-9CF5-0B66F4AC8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845" y="1801011"/>
            <a:ext cx="5852155" cy="366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5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Modelo de Datos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4</a:t>
            </a:fld>
            <a:endParaRPr lang="es-ES" altLang="zh-CN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5D6B21-B6B5-48DB-9E3A-015451DAA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366" y="1643010"/>
            <a:ext cx="6433268" cy="398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01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Costos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5</a:t>
            </a:fld>
            <a:endParaRPr lang="es-ES" altLang="zh-CN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2019828-E238-4C5F-ADE3-9B63B59D8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973864"/>
              </p:ext>
            </p:extLst>
          </p:nvPr>
        </p:nvGraphicFramePr>
        <p:xfrm>
          <a:off x="2379133" y="1803400"/>
          <a:ext cx="6859800" cy="35895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535426">
                  <a:extLst>
                    <a:ext uri="{9D8B030D-6E8A-4147-A177-3AD203B41FA5}">
                      <a16:colId xmlns:a16="http://schemas.microsoft.com/office/drawing/2014/main" val="1518396913"/>
                    </a:ext>
                  </a:extLst>
                </a:gridCol>
                <a:gridCol w="2244926">
                  <a:extLst>
                    <a:ext uri="{9D8B030D-6E8A-4147-A177-3AD203B41FA5}">
                      <a16:colId xmlns:a16="http://schemas.microsoft.com/office/drawing/2014/main" val="3950907238"/>
                    </a:ext>
                  </a:extLst>
                </a:gridCol>
                <a:gridCol w="1125198">
                  <a:extLst>
                    <a:ext uri="{9D8B030D-6E8A-4147-A177-3AD203B41FA5}">
                      <a16:colId xmlns:a16="http://schemas.microsoft.com/office/drawing/2014/main" val="1596325812"/>
                    </a:ext>
                  </a:extLst>
                </a:gridCol>
                <a:gridCol w="1954250">
                  <a:extLst>
                    <a:ext uri="{9D8B030D-6E8A-4147-A177-3AD203B41FA5}">
                      <a16:colId xmlns:a16="http://schemas.microsoft.com/office/drawing/2014/main" val="814296373"/>
                    </a:ext>
                  </a:extLst>
                </a:gridCol>
              </a:tblGrid>
              <a:tr h="6473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Rol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dirty="0">
                          <a:effectLst/>
                        </a:rPr>
                        <a:t>Sueldo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Dedicación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Costo Total (3.5 Meses)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89160444"/>
                  </a:ext>
                </a:extLst>
              </a:tr>
              <a:tr h="410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Scrum Master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$2.600.000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100%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$9.100.000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9483781"/>
                  </a:ext>
                </a:extLst>
              </a:tr>
              <a:tr h="410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Backend Dev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$2.300.000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100%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$8.050.000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50056602"/>
                  </a:ext>
                </a:extLst>
              </a:tr>
              <a:tr h="410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Mobile Dev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$2.200.000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100%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$7.700.000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76320084"/>
                  </a:ext>
                </a:extLst>
              </a:tr>
              <a:tr h="410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QA Engineer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$1.700.000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100%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$5.950.000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85050575"/>
                  </a:ext>
                </a:extLst>
              </a:tr>
              <a:tr h="410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Product Owner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$2.800.000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50%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$4.900.000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34303233"/>
                  </a:ext>
                </a:extLst>
              </a:tr>
              <a:tr h="4801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Infraestructura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$100.000 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N/A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$350.000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1534589"/>
                  </a:ext>
                </a:extLst>
              </a:tr>
              <a:tr h="410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TOTAL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effectLst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dirty="0">
                          <a:effectLst/>
                        </a:rPr>
                        <a:t>$36.050.000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6603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815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Pruebas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6</a:t>
            </a:fld>
            <a:endParaRPr lang="es-ES" altLang="zh-CN" dirty="0"/>
          </a:p>
        </p:txBody>
      </p:sp>
      <p:graphicFrame>
        <p:nvGraphicFramePr>
          <p:cNvPr id="2" name="Tabla 5">
            <a:extLst>
              <a:ext uri="{FF2B5EF4-FFF2-40B4-BE49-F238E27FC236}">
                <a16:creationId xmlns:a16="http://schemas.microsoft.com/office/drawing/2014/main" id="{6F9365AB-3A74-4D56-BFF5-59062ED53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704755"/>
              </p:ext>
            </p:extLst>
          </p:nvPr>
        </p:nvGraphicFramePr>
        <p:xfrm>
          <a:off x="2032000" y="2015066"/>
          <a:ext cx="8060267" cy="338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066">
                  <a:extLst>
                    <a:ext uri="{9D8B030D-6E8A-4147-A177-3AD203B41FA5}">
                      <a16:colId xmlns:a16="http://schemas.microsoft.com/office/drawing/2014/main" val="450569829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679578975"/>
                    </a:ext>
                  </a:extLst>
                </a:gridCol>
                <a:gridCol w="3183466">
                  <a:extLst>
                    <a:ext uri="{9D8B030D-6E8A-4147-A177-3AD203B41FA5}">
                      <a16:colId xmlns:a16="http://schemas.microsoft.com/office/drawing/2014/main" val="1797581312"/>
                    </a:ext>
                  </a:extLst>
                </a:gridCol>
                <a:gridCol w="880534">
                  <a:extLst>
                    <a:ext uri="{9D8B030D-6E8A-4147-A177-3AD203B41FA5}">
                      <a16:colId xmlns:a16="http://schemas.microsoft.com/office/drawing/2014/main" val="144952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ID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Caso de Prueba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Precondición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Estado</a:t>
                      </a:r>
                    </a:p>
                    <a:p>
                      <a:pPr algn="ctr"/>
                      <a:endParaRPr lang="es-CL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627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CP-01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Registro Exitoso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Base de datos limpia.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372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CP-02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Validación RUT Duplicado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Usuario con RUT 11.111.111-1 ya existe.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OK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206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CP-03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Login Exitoso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Usuario registrado previamente.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OK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82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CP-04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Login Fallido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N/A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OK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80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CP-05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Seguridad de Token (Expiración)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Token generado manualmente con expiración pasada.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OK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3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CP-06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Listar Noticias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Token de usuario "Vecino" válido.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3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CP-07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Crear Noticia (Admin)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Token de usuario con Rol "ADMIN".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OK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6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CP-08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Control de Acceso (RBAC)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L" sz="11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Token de usuario con Rol "VECINO".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OK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693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636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>
                <a:latin typeface="Segoe UI" panose="020B0502040204020203" pitchFamily="34" charset="0"/>
                <a:cs typeface="Segoe UI" panose="020B0502040204020203" pitchFamily="34" charset="0"/>
              </a:rPr>
              <a:t>Sprints</a:t>
            </a:r>
            <a:endParaRPr lang="es-E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7</a:t>
            </a:fld>
            <a:endParaRPr lang="es-ES" altLang="zh-CN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98E110C-175A-4A2E-9768-D03EFBC5A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709246"/>
              </p:ext>
            </p:extLst>
          </p:nvPr>
        </p:nvGraphicFramePr>
        <p:xfrm>
          <a:off x="1718733" y="1955801"/>
          <a:ext cx="8282517" cy="21280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2263">
                  <a:extLst>
                    <a:ext uri="{9D8B030D-6E8A-4147-A177-3AD203B41FA5}">
                      <a16:colId xmlns:a16="http://schemas.microsoft.com/office/drawing/2014/main" val="1872267456"/>
                    </a:ext>
                  </a:extLst>
                </a:gridCol>
                <a:gridCol w="4097340">
                  <a:extLst>
                    <a:ext uri="{9D8B030D-6E8A-4147-A177-3AD203B41FA5}">
                      <a16:colId xmlns:a16="http://schemas.microsoft.com/office/drawing/2014/main" val="759397897"/>
                    </a:ext>
                  </a:extLst>
                </a:gridCol>
                <a:gridCol w="1446915">
                  <a:extLst>
                    <a:ext uri="{9D8B030D-6E8A-4147-A177-3AD203B41FA5}">
                      <a16:colId xmlns:a16="http://schemas.microsoft.com/office/drawing/2014/main" val="544189794"/>
                    </a:ext>
                  </a:extLst>
                </a:gridCol>
                <a:gridCol w="1203509">
                  <a:extLst>
                    <a:ext uri="{9D8B030D-6E8A-4147-A177-3AD203B41FA5}">
                      <a16:colId xmlns:a16="http://schemas.microsoft.com/office/drawing/2014/main" val="752352920"/>
                    </a:ext>
                  </a:extLst>
                </a:gridCol>
                <a:gridCol w="892490">
                  <a:extLst>
                    <a:ext uri="{9D8B030D-6E8A-4147-A177-3AD203B41FA5}">
                      <a16:colId xmlns:a16="http://schemas.microsoft.com/office/drawing/2014/main" val="463318467"/>
                    </a:ext>
                  </a:extLst>
                </a:gridCol>
              </a:tblGrid>
              <a:tr h="310470">
                <a:tc>
                  <a:txBody>
                    <a:bodyPr/>
                    <a:lstStyle/>
                    <a:p>
                      <a:pPr algn="ctr" fontAlgn="b"/>
                      <a:r>
                        <a:rPr lang="es-CL" sz="1200" u="none" strike="noStrike" dirty="0">
                          <a:effectLst/>
                        </a:rPr>
                        <a:t>Sprint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200" u="none" strike="noStrike">
                          <a:effectLst/>
                        </a:rPr>
                        <a:t>Tarea</a:t>
                      </a:r>
                      <a:endParaRPr lang="es-CL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200" u="none" strike="noStrike">
                          <a:effectLst/>
                        </a:rPr>
                        <a:t>Responsable</a:t>
                      </a:r>
                      <a:endParaRPr lang="es-CL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200" u="none" strike="noStrike">
                          <a:effectLst/>
                        </a:rPr>
                        <a:t>Estimación (Hrs)</a:t>
                      </a:r>
                      <a:endParaRPr lang="es-CL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200" u="none" strike="noStrike">
                          <a:effectLst/>
                        </a:rPr>
                        <a:t>Estado</a:t>
                      </a:r>
                      <a:endParaRPr lang="es-CL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5568279"/>
                  </a:ext>
                </a:extLst>
              </a:tr>
              <a:tr h="265262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Diseñar Modelo ER (Usuario)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Roberto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L" sz="1100" u="none" strike="noStrike">
                          <a:effectLst/>
                        </a:rPr>
                        <a:t>4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Hecho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6940186"/>
                  </a:ext>
                </a:extLst>
              </a:tr>
              <a:tr h="31047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Endpoint Register (Controller)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Roberto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L" sz="1100" u="none" strike="noStrike">
                          <a:effectLst/>
                        </a:rPr>
                        <a:t>6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Hecho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459543"/>
                  </a:ext>
                </a:extLst>
              </a:tr>
              <a:tr h="310470">
                <a:tc>
                  <a:txBody>
                    <a:bodyPr/>
                    <a:lstStyle/>
                    <a:p>
                      <a:pPr algn="l" fontAlgn="b"/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UI Pantalla Registro Android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Roberto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L" sz="1100" u="none" strike="noStrike">
                          <a:effectLst/>
                        </a:rPr>
                        <a:t>8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Pendiente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552709"/>
                  </a:ext>
                </a:extLst>
              </a:tr>
              <a:tr h="310470"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 dirty="0">
                          <a:effectLst/>
                        </a:rPr>
                        <a:t>2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Configurar Spring Security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Roberto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L" sz="1100" u="none" strike="noStrike">
                          <a:effectLst/>
                        </a:rPr>
                        <a:t>10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Hecho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3979703"/>
                  </a:ext>
                </a:extLst>
              </a:tr>
              <a:tr h="310470"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 dirty="0">
                          <a:effectLst/>
                        </a:rPr>
                        <a:t>2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Implementar JWT Service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Roberto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L" sz="1100" u="none" strike="noStrike">
                          <a:effectLst/>
                        </a:rPr>
                        <a:t>5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Hecho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65457944"/>
                  </a:ext>
                </a:extLst>
              </a:tr>
              <a:tr h="310470"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 dirty="0">
                          <a:effectLst/>
                        </a:rPr>
                        <a:t>2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u="none" strike="noStrike">
                          <a:effectLst/>
                        </a:rPr>
                        <a:t>Integrar Login en Android (Retrofit)</a:t>
                      </a:r>
                      <a:endParaRPr lang="sv-SE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Roberto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CL" sz="1100" u="none" strike="noStrike">
                          <a:effectLst/>
                        </a:rPr>
                        <a:t>6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 dirty="0">
                          <a:effectLst/>
                        </a:rPr>
                        <a:t>Pendiente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1349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25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Evidencias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8</a:t>
            </a:fld>
            <a:endParaRPr lang="es-ES" altLang="zh-CN" dirty="0"/>
          </a:p>
        </p:txBody>
      </p:sp>
      <p:pic>
        <p:nvPicPr>
          <p:cNvPr id="2050" name="Picture 2" descr="Control de versiones con Git GitHub">
            <a:hlinkClick r:id="rId3"/>
            <a:extLst>
              <a:ext uri="{FF2B5EF4-FFF2-40B4-BE49-F238E27FC236}">
                <a16:creationId xmlns:a16="http://schemas.microsoft.com/office/drawing/2014/main" id="{B832B375-1A5A-48DA-8C91-B07FFB173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6289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706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Conclusión y Cierre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9</a:t>
            </a:fld>
            <a:endParaRPr lang="es-ES" altLang="zh-CN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8F24FB-3CCA-4F4A-B10A-F6BD82D9C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116" y="1627598"/>
            <a:ext cx="6599767" cy="36028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1399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ersonalizar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71627983_TF00951641_Win32" id="{463890D5-E9AC-4A9F-9395-AD7AEB362824}" vid="{ACBEAE8C-66C0-4563-A396-AC17662042D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hexágono clara</Template>
  <TotalTime>237</TotalTime>
  <Words>283</Words>
  <Application>Microsoft Office PowerPoint</Application>
  <PresentationFormat>Panorámica</PresentationFormat>
  <Paragraphs>138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Abadi</vt:lpstr>
      <vt:lpstr>Arial</vt:lpstr>
      <vt:lpstr>Arial Black</vt:lpstr>
      <vt:lpstr>Calibri</vt:lpstr>
      <vt:lpstr>Posterama Text SemiBold</vt:lpstr>
      <vt:lpstr>Segoe UI</vt:lpstr>
      <vt:lpstr>Personalizar​</vt:lpstr>
      <vt:lpstr>Sistema Unidad Territorial</vt:lpstr>
      <vt:lpstr>Propuesta de Solución</vt:lpstr>
      <vt:lpstr>Arquitectura</vt:lpstr>
      <vt:lpstr>Modelo de Datos</vt:lpstr>
      <vt:lpstr>Costos</vt:lpstr>
      <vt:lpstr>Pruebas</vt:lpstr>
      <vt:lpstr>Sprints</vt:lpstr>
      <vt:lpstr>Evidencias</vt:lpstr>
      <vt:lpstr>Conclusión y 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Unidad Territorial</dc:title>
  <dc:creator>Roberto Zapata</dc:creator>
  <cp:lastModifiedBy>Roberto Zapata</cp:lastModifiedBy>
  <cp:revision>14</cp:revision>
  <dcterms:created xsi:type="dcterms:W3CDTF">2026-01-19T16:38:47Z</dcterms:created>
  <dcterms:modified xsi:type="dcterms:W3CDTF">2026-01-29T19:14:51Z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